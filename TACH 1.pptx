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eague Spartan" charset="1" panose="00000800000000000000"/>
      <p:regular r:id="rId20"/>
    </p:embeddedFont>
    <p:embeddedFont>
      <p:font typeface="Proxima Nova" charset="1" panose="02000506030000020004"/>
      <p:regular r:id="rId21"/>
    </p:embeddedFont>
    <p:embeddedFont>
      <p:font typeface="Proxima Nova Bold" charset="1" panose="02000506030000020004"/>
      <p:regular r:id="rId22"/>
    </p:embeddedFont>
    <p:embeddedFont>
      <p:font typeface="Proxima Nova Italics" charset="1" panose="0200050603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89090" y="1391592"/>
            <a:ext cx="7709821" cy="1958977"/>
            <a:chOff x="0" y="0"/>
            <a:chExt cx="10279761" cy="2611969"/>
          </a:xfrm>
        </p:grpSpPr>
        <p:sp>
          <p:nvSpPr>
            <p:cNvPr name="AutoShape 4" id="4"/>
            <p:cNvSpPr/>
            <p:nvPr/>
          </p:nvSpPr>
          <p:spPr>
            <a:xfrm>
              <a:off x="25400" y="552296"/>
              <a:ext cx="0" cy="1182129"/>
            </a:xfrm>
            <a:prstGeom prst="line">
              <a:avLst/>
            </a:prstGeom>
            <a:ln cap="flat" w="50800">
              <a:solidFill>
                <a:srgbClr val="F2ECE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252913" y="114300"/>
              <a:ext cx="10026848" cy="2497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0"/>
                </a:lnSpc>
                <a:spcBef>
                  <a:spcPct val="0"/>
                </a:spcBef>
              </a:pPr>
              <a:r>
                <a:rPr lang="en-US" sz="5000" spc="-250">
                  <a:solidFill>
                    <a:srgbClr val="F2ECE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</a:t>
              </a:r>
              <a:r>
                <a:rPr lang="en-US" b="true" sz="5000" spc="-250" strike="noStrike" u="none">
                  <a:solidFill>
                    <a:srgbClr val="F2ECE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RODUCTION AU WEBMAR</a:t>
              </a:r>
              <a:r>
                <a:rPr lang="en-US" b="true" sz="5000" spc="-250" strike="noStrike" u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KETING &amp; STRATÉGIE DIGITALE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928032" y="3712519"/>
            <a:ext cx="4431935" cy="7109067"/>
          </a:xfrm>
          <a:custGeom>
            <a:avLst/>
            <a:gdLst/>
            <a:ahLst/>
            <a:cxnLst/>
            <a:rect r="r" b="b" t="t" l="l"/>
            <a:pathLst>
              <a:path h="7109067" w="4431935">
                <a:moveTo>
                  <a:pt x="0" y="0"/>
                </a:moveTo>
                <a:lnTo>
                  <a:pt x="4431936" y="0"/>
                </a:lnTo>
                <a:lnTo>
                  <a:pt x="4431936" y="7109067"/>
                </a:lnTo>
                <a:lnTo>
                  <a:pt x="0" y="7109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820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18061" y="9720568"/>
            <a:ext cx="432108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Ayoub Amaghouch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703669" y="2727242"/>
            <a:ext cx="4402106" cy="6531058"/>
            <a:chOff x="0" y="0"/>
            <a:chExt cx="869061" cy="1289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9061" cy="1289358"/>
            </a:xfrm>
            <a:custGeom>
              <a:avLst/>
              <a:gdLst/>
              <a:ahLst/>
              <a:cxnLst/>
              <a:rect r="r" b="b" t="t" l="l"/>
              <a:pathLst>
                <a:path h="1289358" w="869061">
                  <a:moveTo>
                    <a:pt x="0" y="0"/>
                  </a:moveTo>
                  <a:lnTo>
                    <a:pt x="869061" y="0"/>
                  </a:lnTo>
                  <a:lnTo>
                    <a:pt x="869061" y="1289358"/>
                  </a:lnTo>
                  <a:lnTo>
                    <a:pt x="0" y="1289358"/>
                  </a:lnTo>
                  <a:close/>
                </a:path>
              </a:pathLst>
            </a:custGeom>
            <a:blipFill>
              <a:blip r:embed="rId2"/>
              <a:stretch>
                <a:fillRect l="0" t="-583" r="0" b="-58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43399" y="2452171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ct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1406" y="2452171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Déf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on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 W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bm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rket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0346" y="5981487"/>
            <a:ext cx="413053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C’est qu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oi une str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atégi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 di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gi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ale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73932" y="5981487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Fixer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les objectifs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(SMART)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43399" y="4282863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Év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olut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ion du Webma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73932" y="4282863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Le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ou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tils du digital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0346" y="7499137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</a:t>
            </a:r>
            <a:r>
              <a:rPr lang="en-US" b="true" sz="2000" strike="noStrike" u="non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 du marché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70887" y="7499137"/>
            <a:ext cx="34190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Analyse SWOT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3399" y="152477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8196" y="152477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43399" y="482261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73932" y="4798007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80346" y="3174185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48196" y="3126560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43399" y="656886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73932" y="6492662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12</a:t>
            </a:r>
          </a:p>
        </p:txBody>
      </p:sp>
      <p:sp>
        <p:nvSpPr>
          <p:cNvPr name="TextBox 23" id="23"/>
          <p:cNvSpPr txBox="true"/>
          <p:nvPr/>
        </p:nvSpPr>
        <p:spPr>
          <a:xfrm rot="-5400000">
            <a:off x="-1560807" y="5413765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43399" y="8038887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73932" y="8172237"/>
            <a:ext cx="139271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80346" y="9005714"/>
            <a:ext cx="23761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KPI</a:t>
            </a: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Exemple simple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0878" y="9059863"/>
            <a:ext cx="128379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</a:t>
            </a:r>
            <a:r>
              <a:rPr lang="en-US" b="true" sz="2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nclusion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6233427" y="2139725"/>
            <a:ext cx="0" cy="886597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0469" y="3353167"/>
            <a:ext cx="12187063" cy="509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</a:p>
          <a:p>
            <a:pPr algn="l">
              <a:lnSpc>
                <a:spcPts val="5058"/>
              </a:lnSpc>
            </a:pPr>
            <a:r>
              <a:rPr lang="en-US" sz="3372" i="true" spc="-3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De n</a:t>
            </a:r>
            <a:r>
              <a:rPr lang="en-US" sz="3372" i="true" spc="-3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ombreuses personnes recherchent des informations et effectuent leurs achats en ligne.</a:t>
            </a:r>
          </a:p>
          <a:p>
            <a:pPr algn="l">
              <a:lnSpc>
                <a:spcPts val="5058"/>
              </a:lnSpc>
            </a:pPr>
            <a:r>
              <a:rPr lang="en-US" sz="3372" i="true" spc="-3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C’est pourquoi les entreprises doivent être présentes sur Internet afin de rester compétitives.</a:t>
            </a:r>
          </a:p>
          <a:p>
            <a:pPr algn="l" marL="0" indent="0" lvl="0">
              <a:lnSpc>
                <a:spcPts val="5058"/>
              </a:lnSpc>
              <a:spcBef>
                <a:spcPct val="0"/>
              </a:spcBef>
            </a:pPr>
            <a:r>
              <a:rPr lang="en-US" sz="3372" i="true" spc="-3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Le webmarketing permet aux entreprises d’atteindre leurs clients, de promouvoir leurs produits et d’augmenter leurs ventes.</a:t>
            </a:r>
          </a:p>
          <a:p>
            <a:pPr algn="l" marL="0" indent="0" lvl="0">
              <a:lnSpc>
                <a:spcPts val="505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870214" y="2335373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6180" y="4314371"/>
            <a:ext cx="3216738" cy="4889780"/>
            <a:chOff x="0" y="0"/>
            <a:chExt cx="635047" cy="9653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47" cy="965338"/>
            </a:xfrm>
            <a:custGeom>
              <a:avLst/>
              <a:gdLst/>
              <a:ahLst/>
              <a:cxnLst/>
              <a:rect r="r" b="b" t="t" l="l"/>
              <a:pathLst>
                <a:path h="965338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65338"/>
                  </a:lnTo>
                  <a:lnTo>
                    <a:pt x="0" y="965338"/>
                  </a:lnTo>
                  <a:close/>
                </a:path>
              </a:pathLst>
            </a:custGeom>
            <a:blipFill>
              <a:blip r:embed="rId2"/>
              <a:stretch>
                <a:fillRect l="-578" t="0" r="-57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357990" y="4314371"/>
            <a:ext cx="3216738" cy="4889780"/>
            <a:chOff x="0" y="0"/>
            <a:chExt cx="635047" cy="9653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47" cy="965338"/>
            </a:xfrm>
            <a:custGeom>
              <a:avLst/>
              <a:gdLst/>
              <a:ahLst/>
              <a:cxnLst/>
              <a:rect r="r" b="b" t="t" l="l"/>
              <a:pathLst>
                <a:path h="965338" w="635047">
                  <a:moveTo>
                    <a:pt x="0" y="0"/>
                  </a:moveTo>
                  <a:lnTo>
                    <a:pt x="635047" y="0"/>
                  </a:lnTo>
                  <a:lnTo>
                    <a:pt x="635047" y="965338"/>
                  </a:lnTo>
                  <a:lnTo>
                    <a:pt x="0" y="965338"/>
                  </a:lnTo>
                  <a:close/>
                </a:path>
              </a:pathLst>
            </a:custGeom>
            <a:blipFill>
              <a:blip r:embed="rId3"/>
              <a:stretch>
                <a:fillRect l="-670" t="0" r="-67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4018" y="2928306"/>
            <a:ext cx="6270925" cy="757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9"/>
              </a:lnSpc>
            </a:pPr>
            <a:r>
              <a:rPr lang="en-US" sz="2899" spc="-28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Le webmarketing, appelé aussi marketing digital, regroupe l’ensemble des techniques marketing utilisées sur Internet pour promouvoir une entreprise, un produit ou un service.</a:t>
            </a:r>
          </a:p>
          <a:p>
            <a:pPr algn="ctr">
              <a:lnSpc>
                <a:spcPts val="4349"/>
              </a:lnSpc>
            </a:pPr>
            <a:r>
              <a:rPr lang="en-US" sz="2899" spc="-28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Son objectif principal est d’attirer des visiteurs, de les transformer en clients et de les fidéliser grâce aux outils numériques.</a:t>
            </a:r>
          </a:p>
          <a:p>
            <a:pPr algn="ctr" marL="0" indent="0" lvl="0">
              <a:lnSpc>
                <a:spcPts val="4349"/>
              </a:lnSpc>
              <a:spcBef>
                <a:spcPct val="0"/>
              </a:spcBef>
            </a:pPr>
            <a:r>
              <a:rPr lang="en-US" sz="2899" spc="-28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Il utilise plusieurs canaux comme les sites web, les réseaux sociaux, les moteurs de recherche et l’email marketing.</a:t>
            </a:r>
          </a:p>
          <a:p>
            <a:pPr algn="ctr" marL="0" indent="0" lvl="0">
              <a:lnSpc>
                <a:spcPts val="434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798782" y="1347648"/>
            <a:ext cx="643753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Définition du Webmarketing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162341" y="2800775"/>
            <a:ext cx="13250250" cy="5693495"/>
            <a:chOff x="0" y="0"/>
            <a:chExt cx="3489778" cy="1499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9778" cy="1499521"/>
            </a:xfrm>
            <a:custGeom>
              <a:avLst/>
              <a:gdLst/>
              <a:ahLst/>
              <a:cxnLst/>
              <a:rect r="r" b="b" t="t" l="l"/>
              <a:pathLst>
                <a:path h="1499521" w="3489778">
                  <a:moveTo>
                    <a:pt x="0" y="0"/>
                  </a:moveTo>
                  <a:lnTo>
                    <a:pt x="3489778" y="0"/>
                  </a:lnTo>
                  <a:lnTo>
                    <a:pt x="3489778" y="1499521"/>
                  </a:lnTo>
                  <a:lnTo>
                    <a:pt x="0" y="1499521"/>
                  </a:lnTo>
                  <a:close/>
                </a:path>
              </a:pathLst>
            </a:custGeom>
            <a:ln w="38100" cap="sq">
              <a:solidFill>
                <a:srgbClr val="F2ECE2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89778" cy="1547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9806" y="3979511"/>
            <a:ext cx="12932786" cy="356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Le webmarketing a beaucoup évolué avec le développement d’Internet et des nouvelles technologies.</a:t>
            </a:r>
          </a:p>
          <a:p>
            <a:pPr algn="just" marL="506719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Dans les années 1990 : apparition des premières publicités en ligne.</a:t>
            </a:r>
          </a:p>
          <a:p>
            <a:pPr algn="just" marL="506719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Années 2000 : développement du référencement (SEO) et de l’email marketing.</a:t>
            </a:r>
          </a:p>
          <a:p>
            <a:pPr algn="just" marL="506719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Années 2010 : explosion des réseaux sociaux et du marketing mobile.</a:t>
            </a:r>
          </a:p>
          <a:p>
            <a:pPr algn="just" marL="506719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Aujourd’hui : utilisation de l’intelligence artificielle, de l’automatisation et de la personnalisation.</a:t>
            </a:r>
          </a:p>
          <a:p>
            <a:pPr algn="just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Le digital est devenu un élément central dans la stratégie des entreprises.</a:t>
            </a:r>
          </a:p>
          <a:p>
            <a:pPr algn="just" marL="0" indent="0" lvl="0">
              <a:lnSpc>
                <a:spcPts val="3520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785975" y="1381550"/>
            <a:ext cx="643753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Évolution du Webmarketing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06605" y="2375109"/>
            <a:ext cx="4552695" cy="6829042"/>
          </a:xfrm>
          <a:custGeom>
            <a:avLst/>
            <a:gdLst/>
            <a:ahLst/>
            <a:cxnLst/>
            <a:rect r="r" b="b" t="t" l="l"/>
            <a:pathLst>
              <a:path h="6829042" w="4552695">
                <a:moveTo>
                  <a:pt x="0" y="0"/>
                </a:moveTo>
                <a:lnTo>
                  <a:pt x="4552695" y="0"/>
                </a:lnTo>
                <a:lnTo>
                  <a:pt x="4552695" y="6829042"/>
                </a:lnTo>
                <a:lnTo>
                  <a:pt x="0" y="6829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9582" y="4089786"/>
            <a:ext cx="12932786" cy="349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Le webmarketing utilise plusieurs outils pour atteindre les clients :</a:t>
            </a:r>
          </a:p>
          <a:p>
            <a:pPr algn="ctr" marL="506718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SEO (Search Engine Optimization) : améliorer la visibilité d’un site sur Google.</a:t>
            </a:r>
          </a:p>
          <a:p>
            <a:pPr algn="ctr" marL="506718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SEA (Publicité en ligne) : annonces payantes sur les moteurs de recherche.</a:t>
            </a:r>
          </a:p>
          <a:p>
            <a:pPr algn="ctr" marL="506718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Réseaux sociaux : Facebook, Instagram, TikTok pour promouvoir la marque.</a:t>
            </a:r>
          </a:p>
          <a:p>
            <a:pPr algn="ctr" marL="506718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Email marketing : envoyer des offres et informations aux clients.</a:t>
            </a:r>
          </a:p>
          <a:p>
            <a:pPr algn="ctr" marL="506718" indent="-253359" lvl="1">
              <a:lnSpc>
                <a:spcPts val="3520"/>
              </a:lnSpc>
              <a:buFont typeface="Arial"/>
              <a:buChar char="•"/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Site web : vitrine principale de l’entreprise en ligne.</a:t>
            </a:r>
          </a:p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C</a:t>
            </a: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es outils permettent d’attirer, convaincre et fidéliser les clients.</a:t>
            </a:r>
          </a:p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925230" y="1478294"/>
            <a:ext cx="643753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outils du Webmarketing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069283" y="5143500"/>
            <a:ext cx="5118902" cy="5040758"/>
          </a:xfrm>
          <a:custGeom>
            <a:avLst/>
            <a:gdLst/>
            <a:ahLst/>
            <a:cxnLst/>
            <a:rect r="r" b="b" t="t" l="l"/>
            <a:pathLst>
              <a:path h="5040758" w="5118902">
                <a:moveTo>
                  <a:pt x="0" y="0"/>
                </a:moveTo>
                <a:lnTo>
                  <a:pt x="5118902" y="0"/>
                </a:lnTo>
                <a:lnTo>
                  <a:pt x="5118902" y="5040758"/>
                </a:lnTo>
                <a:lnTo>
                  <a:pt x="0" y="5040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5" r="0" b="-77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62341" y="2785398"/>
            <a:ext cx="12932786" cy="217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La stratégie digitale est un plan d’action mis en place par une entreprise pour atteindre ses objectifs grâce aux outils numériques.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Ell</a:t>
            </a: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 permet d’organiser les actions marketing en ligne de manière structurée et efficace.</a:t>
            </a:r>
          </a:p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Sans stratégie, les actions digitales peuvent être désorganisées et peu performantes.</a:t>
            </a:r>
          </a:p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925230" y="1699548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la Stratégie Digitale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77607" y="3785087"/>
            <a:ext cx="12932786" cy="349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Pour réussir une stratégie digitale, il faut définir des objectifs clairs.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On utilise la méthode SMART :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Spécifique : objectif clair et précis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Mesurable : on peut le mesurer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Atteignable : possible à réaliser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Réaliste : adapté aux moyens de l’entreprise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Temporel : défini dans le temps</a:t>
            </a:r>
          </a:p>
          <a:p>
            <a:pPr algn="ctr">
              <a:lnSpc>
                <a:spcPts val="3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925230" y="1830740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Fixer les objectifs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33036" y="3128080"/>
            <a:ext cx="11021927" cy="4882193"/>
            <a:chOff x="0" y="0"/>
            <a:chExt cx="2902894" cy="12858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02895" cy="1285845"/>
            </a:xfrm>
            <a:custGeom>
              <a:avLst/>
              <a:gdLst/>
              <a:ahLst/>
              <a:cxnLst/>
              <a:rect r="r" b="b" t="t" l="l"/>
              <a:pathLst>
                <a:path h="1285845" w="2902895">
                  <a:moveTo>
                    <a:pt x="0" y="0"/>
                  </a:moveTo>
                  <a:lnTo>
                    <a:pt x="2902895" y="0"/>
                  </a:lnTo>
                  <a:lnTo>
                    <a:pt x="2902895" y="1285845"/>
                  </a:lnTo>
                  <a:lnTo>
                    <a:pt x="0" y="1285845"/>
                  </a:lnTo>
                  <a:close/>
                </a:path>
              </a:pathLst>
            </a:custGeom>
            <a:ln w="38100" cap="sq">
              <a:solidFill>
                <a:srgbClr val="F2ECE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02894" cy="1333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77607" y="3688343"/>
            <a:ext cx="12932786" cy="349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Avant de lancer une stratégie digitale, l’entreprise doit analyser son environnement.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Il est important de :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Étudier le marché (tendances, demande, évolution).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Analyser la concurrence.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Identifier le public cible.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Comprendre les besoins et le comportement des clients.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Cette analyse permet d’adapter la stratégie aux attentes du marché.</a:t>
            </a:r>
          </a:p>
          <a:p>
            <a:pPr algn="ctr">
              <a:lnSpc>
                <a:spcPts val="3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925230" y="1830740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Marché et de la Cible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77607" y="3817335"/>
            <a:ext cx="12932786" cy="349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L’analyse SWOT est un outil stratégique qui permet d’évaluer la situation de l’entreprise.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Elle se compose de 4 éléments :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Forces (Strengths) : avantages internes de l’entreprise.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Faiblesses (Weaknesses) : points faibles internes.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Opportunités (Opportunities) : facteurs externes favorables.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Menaces (Threats) : risques ou dangers externes.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Elle aide à prendre de meilleures décisions stratégiques.</a:t>
            </a:r>
          </a:p>
          <a:p>
            <a:pPr algn="ctr">
              <a:lnSpc>
                <a:spcPts val="3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925230" y="1830740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77607" y="3785087"/>
            <a:ext cx="12932786" cy="349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Pour réussir une stratégie digitale, il faut définir des objectifs clairs.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On utilise la méthode SMART :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Spécifique : objectif clair et précis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Mesurable : on peut le mesurer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Atteignable : possible à réaliser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Réaliste : adapté aux moyens de l’entreprise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Temporel : défini dans le temps</a:t>
            </a:r>
          </a:p>
          <a:p>
            <a:pPr algn="ctr">
              <a:lnSpc>
                <a:spcPts val="3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925230" y="1830740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Fixer les objectifs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33036" y="3128080"/>
            <a:ext cx="11021927" cy="4882193"/>
            <a:chOff x="0" y="0"/>
            <a:chExt cx="2902894" cy="12858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02895" cy="1285845"/>
            </a:xfrm>
            <a:custGeom>
              <a:avLst/>
              <a:gdLst/>
              <a:ahLst/>
              <a:cxnLst/>
              <a:rect r="r" b="b" t="t" l="l"/>
              <a:pathLst>
                <a:path h="1285845" w="2902895">
                  <a:moveTo>
                    <a:pt x="0" y="0"/>
                  </a:moveTo>
                  <a:lnTo>
                    <a:pt x="2902895" y="0"/>
                  </a:lnTo>
                  <a:lnTo>
                    <a:pt x="2902895" y="1285845"/>
                  </a:lnTo>
                  <a:lnTo>
                    <a:pt x="0" y="1285845"/>
                  </a:lnTo>
                  <a:close/>
                </a:path>
              </a:pathLst>
            </a:custGeom>
            <a:ln w="38100" cap="sq">
              <a:solidFill>
                <a:srgbClr val="F2ECE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02894" cy="1333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77607" y="3049940"/>
            <a:ext cx="12932786" cy="436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Les KPIs sont des indicateurs qui permettent de mesurer l’efficacité de la stratégie digitale.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Ils aident l’entreprise à savoir si elle atteint ses objectifs.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Exemples de KPIs :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Nombre de visiteurs sur le site web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Taux de conversion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Nombre de ventes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Taux d’engagement sur les réseaux sociaux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Retour sur investissement (ROI)</a:t>
            </a:r>
          </a:p>
          <a:p>
            <a:pPr algn="ctr">
              <a:lnSpc>
                <a:spcPts val="3520"/>
              </a:lnSpc>
            </a:pPr>
            <a:r>
              <a:rPr lang="en-US" sz="2347" i="true" spc="-23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Le suivi des KPIs permet d’améliorer les actions marketing.</a:t>
            </a:r>
          </a:p>
          <a:p>
            <a:pPr algn="ctr">
              <a:lnSpc>
                <a:spcPts val="3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925230" y="1830740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 KPIs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A80F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638013" y="3341972"/>
            <a:ext cx="11810160" cy="435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Le webmarketing est devenu indispensable pour les entreprises dans un monde de plus en plus digitalisé.</a:t>
            </a:r>
          </a:p>
          <a:p>
            <a:pPr algn="ctr">
              <a:lnSpc>
                <a:spcPts val="3444"/>
              </a:lnSpc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Une stratégie digitale efficace repose sur :</a:t>
            </a:r>
          </a:p>
          <a:p>
            <a:pPr algn="ctr" marL="495845" indent="-247922" lvl="1">
              <a:lnSpc>
                <a:spcPts val="3444"/>
              </a:lnSpc>
              <a:buFont typeface="Arial"/>
              <a:buChar char="•"/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Des objectifs clairs (SMART)</a:t>
            </a:r>
          </a:p>
          <a:p>
            <a:pPr algn="ctr" marL="495845" indent="-247922" lvl="1">
              <a:lnSpc>
                <a:spcPts val="3444"/>
              </a:lnSpc>
              <a:buFont typeface="Arial"/>
              <a:buChar char="•"/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Une bonne analyse du marché et de la cible</a:t>
            </a:r>
          </a:p>
          <a:p>
            <a:pPr algn="ctr" marL="495845" indent="-247922" lvl="1">
              <a:lnSpc>
                <a:spcPts val="3444"/>
              </a:lnSpc>
              <a:buFont typeface="Arial"/>
              <a:buChar char="•"/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L’utilisation des bons outils digitaux</a:t>
            </a:r>
          </a:p>
          <a:p>
            <a:pPr algn="ctr" marL="495845" indent="-247922" lvl="1">
              <a:lnSpc>
                <a:spcPts val="3444"/>
              </a:lnSpc>
              <a:buFont typeface="Arial"/>
              <a:buChar char="•"/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Le suivi des performances grâce aux KPIs</a:t>
            </a:r>
          </a:p>
          <a:p>
            <a:pPr algn="ctr" marL="0" indent="0" lvl="0">
              <a:lnSpc>
                <a:spcPts val="3444"/>
              </a:lnSpc>
              <a:spcBef>
                <a:spcPct val="0"/>
              </a:spcBef>
            </a:pPr>
            <a:r>
              <a:rPr lang="en-US" sz="2296" spc="-22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Une entreprise qui adapte sa stratégie digitale peut améliorer sa visibilité, attirer plus de clients et augmenter ses ventes.</a:t>
            </a:r>
          </a:p>
          <a:p>
            <a:pPr algn="ctr" marL="0" indent="0" lvl="0">
              <a:lnSpc>
                <a:spcPts val="344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000250" y="2100016"/>
            <a:ext cx="70856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29043" y="4427699"/>
            <a:ext cx="0" cy="886597"/>
          </a:xfrm>
          <a:prstGeom prst="line">
            <a:avLst/>
          </a:prstGeom>
          <a:ln cap="flat" w="38100">
            <a:solidFill>
              <a:srgbClr val="C34C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477297" y="7596140"/>
            <a:ext cx="1333405" cy="1355028"/>
          </a:xfrm>
          <a:custGeom>
            <a:avLst/>
            <a:gdLst/>
            <a:ahLst/>
            <a:cxnLst/>
            <a:rect r="r" b="b" t="t" l="l"/>
            <a:pathLst>
              <a:path h="1355028" w="1333405">
                <a:moveTo>
                  <a:pt x="0" y="0"/>
                </a:moveTo>
                <a:lnTo>
                  <a:pt x="1333406" y="0"/>
                </a:lnTo>
                <a:lnTo>
                  <a:pt x="1333406" y="1355028"/>
                </a:lnTo>
                <a:lnTo>
                  <a:pt x="0" y="1355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83459" y="9263380"/>
            <a:ext cx="432108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AYOUB AMAGHOUCH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0856" y="4632305"/>
            <a:ext cx="5067151" cy="8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b="true" sz="6400" spc="-320" strike="noStrike" u="none">
                <a:solidFill>
                  <a:srgbClr val="C34C2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9729"/>
            <a:ext cx="213364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OFPPT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1297" y="5504964"/>
            <a:ext cx="5485407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1900" i="true" spc="-19">
                <a:solidFill>
                  <a:srgbClr val="C34C2F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Je tiens à exprimer ma sincère gratitude pour votre soutien continu et vos précieuses contributions. Merci encore pour tout votre temps.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DAHBMC7K4Mw</dc:identifier>
  <dcterms:modified xsi:type="dcterms:W3CDTF">2011-08-01T06:04:30Z</dcterms:modified>
  <cp:revision>1</cp:revision>
  <dc:title>Présentation professionnel de projet d’entreprise minimaliste et moderne orange blanc</dc:title>
</cp:coreProperties>
</file>